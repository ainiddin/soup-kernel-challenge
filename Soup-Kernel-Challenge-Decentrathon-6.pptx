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Fira Sans Extra Condensed ExtraBold"/>
      <p:regular r:id="rId201314"/>
    </p:embeddedFont>
    <p:embeddedFont>
      <p:font typeface="PT Mono"/>
      <p:regular r:id="rId201315"/>
    </p:embeddedFont>
    <p:embeddedFont>
      <p:font typeface="PT Sans"/>
      <p:regular r:id="rId201316"/>
    </p:embeddedFont>
    <p:embeddedFont>
      <p:font typeface="P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C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C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85800"/>
            <a:ext cx="8127797" cy="4668441"/>
          </a:xfrm>
          <a:prstGeom prst="rect">
            <a:avLst/>
          </a:prstGeom>
          <a:solidFill>
            <a:srgbClr val="CDD8E6"/>
          </a:solidFill>
          <a:ln/>
        </p:spPr>
      </p:sp>
      <p:sp>
        <p:nvSpPr>
          <p:cNvPr id="3" name="Shape 1"/>
          <p:cNvSpPr/>
          <p:nvPr/>
        </p:nvSpPr>
        <p:spPr>
          <a:xfrm>
            <a:off x="990575" y="1089025"/>
            <a:ext cx="1841355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sp>
        <p:nvSpPr>
          <p:cNvPr id="4" name="Text 2"/>
          <p:cNvSpPr/>
          <p:nvPr/>
        </p:nvSpPr>
        <p:spPr>
          <a:xfrm>
            <a:off x="990575" y="1500823"/>
            <a:ext cx="736581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0"/>
              </a:rPr>
              <a:t>SOUP KERNEL CHALLENGE (DECENTRATHON 6.0)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90575" y="2738041"/>
            <a:ext cx="73658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Автор: Ainiddin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Дообучение Qwen2.5-1.5B-Instruct на казахских инструкциях: 4-bit NF4, LoRA r=16, 64 шага на Kaggle T4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Цель: ускорить обучение или сэкономить память собственными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@triton.jit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 ядрами — без unsloth, liger и других готовых библиотек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База: ~80 сек, ~14 350 MiB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GitHub: github.com/BAITC-Hacks/hack-0f0c42c6-world · Kaggle: kaggle.com/code/ainiddin/notebook2697177e12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0223"/>
            <a:ext cx="3975001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0"/>
              </a:rPr>
              <a:t>АРХИТЕКТУРА РЕШЕНИЯ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668066"/>
            <a:ext cx="39750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3 пары собственных Triton-ядер: forward и backward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3309144"/>
            <a:ext cx="397500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303D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solution.apply()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 патчит модель до обучения: Qwen2MLP, Qwen2RMSNorm, Qwen2ForCausalLM.forward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189" y="5216922"/>
            <a:ext cx="39750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Для non-CUDA входов стоит защита, поэтому все 79 регрессионных тестов Soup проходят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46566" y="0"/>
            <a:ext cx="6845129" cy="685800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7" name="Text 5"/>
          <p:cNvSpPr/>
          <p:nvPr/>
        </p:nvSpPr>
        <p:spPr>
          <a:xfrm>
            <a:off x="5651359" y="313849"/>
            <a:ext cx="6235544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b="1" dirty="0">
                <a:solidFill>
                  <a:srgbClr val="22303D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solution.apply()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51359" y="786110"/>
            <a:ext cx="1558886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sp>
        <p:nvSpPr>
          <p:cNvPr id="9" name="Shape 7"/>
          <p:cNvSpPr/>
          <p:nvPr/>
        </p:nvSpPr>
        <p:spPr>
          <a:xfrm>
            <a:off x="5651359" y="1024235"/>
            <a:ext cx="6235544" cy="1741388"/>
          </a:xfrm>
          <a:prstGeom prst="roundRect">
            <a:avLst>
              <a:gd name="adj" fmla="val 1641"/>
            </a:avLst>
          </a:prstGeom>
          <a:solidFill>
            <a:srgbClr val="E1E8F1"/>
          </a:solidFill>
          <a:ln w="25399">
            <a:solidFill>
              <a:srgbClr val="9CA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352" y="1285855"/>
            <a:ext cx="57275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Qwen2MLP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352" y="1660426"/>
            <a:ext cx="2787580" cy="72390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12" name="Text 10"/>
          <p:cNvSpPr/>
          <p:nvPr/>
        </p:nvSpPr>
        <p:spPr>
          <a:xfrm>
            <a:off x="5905352" y="1889026"/>
            <a:ext cx="27875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forward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45329" y="1660426"/>
            <a:ext cx="2787580" cy="72390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14" name="Text 12"/>
          <p:cNvSpPr/>
          <p:nvPr/>
        </p:nvSpPr>
        <p:spPr>
          <a:xfrm>
            <a:off x="8845329" y="1889026"/>
            <a:ext cx="27875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backward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51359" y="2917924"/>
            <a:ext cx="6235544" cy="1741587"/>
          </a:xfrm>
          <a:prstGeom prst="roundRect">
            <a:avLst>
              <a:gd name="adj" fmla="val 1641"/>
            </a:avLst>
          </a:prstGeom>
          <a:solidFill>
            <a:srgbClr val="E1E8F1"/>
          </a:solidFill>
          <a:ln w="25399">
            <a:solidFill>
              <a:srgbClr val="9CA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5352" y="3179544"/>
            <a:ext cx="57275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Qwen2RMSNorm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05352" y="3554115"/>
            <a:ext cx="2787580" cy="72390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352" y="3782715"/>
            <a:ext cx="27875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forward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845329" y="3554115"/>
            <a:ext cx="2787580" cy="72390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20" name="Text 18"/>
          <p:cNvSpPr/>
          <p:nvPr/>
        </p:nvSpPr>
        <p:spPr>
          <a:xfrm>
            <a:off x="8845329" y="3782715"/>
            <a:ext cx="27875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backward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51359" y="4811812"/>
            <a:ext cx="6235544" cy="1741388"/>
          </a:xfrm>
          <a:prstGeom prst="roundRect">
            <a:avLst>
              <a:gd name="adj" fmla="val 1641"/>
            </a:avLst>
          </a:prstGeom>
          <a:solidFill>
            <a:srgbClr val="E1E8F1"/>
          </a:solidFill>
          <a:ln w="25399">
            <a:solidFill>
              <a:srgbClr val="9CA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5352" y="5073432"/>
            <a:ext cx="57275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Qwen2ForCausalLM.forward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5352" y="5448002"/>
            <a:ext cx="2787580" cy="72390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24" name="Text 22"/>
          <p:cNvSpPr/>
          <p:nvPr/>
        </p:nvSpPr>
        <p:spPr>
          <a:xfrm>
            <a:off x="5905352" y="5676602"/>
            <a:ext cx="27875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forward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45329" y="5448002"/>
            <a:ext cx="2787580" cy="72390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26" name="Text 24"/>
          <p:cNvSpPr/>
          <p:nvPr/>
        </p:nvSpPr>
        <p:spPr>
          <a:xfrm>
            <a:off x="8845329" y="5676602"/>
            <a:ext cx="27875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backward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189" y="3074194"/>
            <a:ext cx="3975001" cy="12700"/>
          </a:xfrm>
          <a:prstGeom prst="rect">
            <a:avLst/>
          </a:prstGeom>
          <a:solidFill>
            <a:srgbClr val="A9B7C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189" y="4981972"/>
            <a:ext cx="3975001" cy="12700"/>
          </a:xfrm>
          <a:prstGeom prst="rect">
            <a:avLst/>
          </a:prstGeom>
          <a:solidFill>
            <a:srgbClr val="A9B7C8"/>
          </a:solidFill>
          <a:ln/>
        </p:spPr>
      </p:sp>
      <p:sp>
        <p:nvSpPr>
          <p:cNvPr id="29" name="Text 27"/>
          <p:cNvSpPr/>
          <p:nvPr/>
        </p:nvSpPr>
        <p:spPr>
          <a:xfrm>
            <a:off x="11871623" y="6540500"/>
            <a:ext cx="3200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20195"/>
            <a:ext cx="1127731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0"/>
              </a:rPr>
              <a:t>ТРИ ЯДРА ЗАКРЫВАЮТ ГЛАВНЫЕ УЗКИЕ МЕСТА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2347218"/>
            <a:ext cx="3555911" cy="2843510"/>
          </a:xfrm>
          <a:prstGeom prst="roundRect">
            <a:avLst>
              <a:gd name="adj" fmla="val 1005"/>
            </a:avLst>
          </a:prstGeom>
          <a:noFill/>
          <a:ln w="25399">
            <a:solidFill>
              <a:srgbClr val="9CAEC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652018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3127792"/>
            <a:ext cx="2946326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b="1" dirty="0">
                <a:solidFill>
                  <a:srgbClr val="0F1A26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SwiGLU: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61981" y="3552428"/>
            <a:ext cx="29463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silu(gate)·up в одном запуске вместо 3 операций; промежуточные тензоры не хранятся; главная экономия памяти — около 2 ГБ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17892" y="2347218"/>
            <a:ext cx="3555911" cy="2843510"/>
          </a:xfrm>
          <a:prstGeom prst="roundRect">
            <a:avLst>
              <a:gd name="adj" fmla="val 1005"/>
            </a:avLst>
          </a:prstGeom>
          <a:noFill/>
          <a:ln w="25399">
            <a:solidFill>
              <a:srgbClr val="9CAEC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684" y="2652018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22684" y="3127792"/>
            <a:ext cx="2946326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b="1" dirty="0">
                <a:solidFill>
                  <a:srgbClr val="0F1A26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Cross-Entropy: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622684" y="3552428"/>
            <a:ext cx="29463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online softmax кусками для словаря 151 936; матрица N×V целиком не создаётся; у токенов −100 градиент равен нулю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178595" y="2347218"/>
            <a:ext cx="3555911" cy="2843510"/>
          </a:xfrm>
          <a:prstGeom prst="roundRect">
            <a:avLst>
              <a:gd name="adj" fmla="val 1005"/>
            </a:avLst>
          </a:prstGeom>
          <a:noFill/>
          <a:ln w="25399">
            <a:solidFill>
              <a:srgbClr val="9CAEC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388" y="2652018"/>
            <a:ext cx="380990" cy="381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83388" y="3127792"/>
            <a:ext cx="2946326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b="1" dirty="0">
                <a:solidFill>
                  <a:srgbClr val="0F1A26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RMSNorm: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483388" y="3552428"/>
            <a:ext cx="29463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57 вызовов за шаг; операции слиты в один проход; backward переиспользует rstd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871623" y="6540500"/>
            <a:ext cx="3200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ect">
            <a:avLst/>
          </a:prstGeom>
          <a:solidFill>
            <a:srgbClr val="1A47A8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2586375"/>
            <a:ext cx="39471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PT Mono" pitchFamily="34" charset="0"/>
                <a:ea typeface="PT Mono" pitchFamily="34" charset="-122"/>
                <a:cs typeface="PT Mono" pitchFamily="34" charset="0"/>
              </a:rPr>
              <a:t>ПИКОВАЯ ПАМЯТЬ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55591" y="3123545"/>
            <a:ext cx="3591530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0"/>
              </a:rPr>
              <a:t>−17.9%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55591" y="4007148"/>
            <a:ext cx="39471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Результаты: Kaggle T4, 10/10 PASS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16990" y="510223"/>
            <a:ext cx="6517517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0"/>
              </a:rPr>
              <a:t>ПАМЯТЬ — ГЛАВНЫЙ ВЫИГРЫШ, КАЧЕСТВО СОХРАНЯЕТСЯ</a:t>
            </a:r>
            <a:endParaRPr lang="en-US" sz="4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6990" y="2198886"/>
          <a:ext cx="6517517" cy="914400"/>
        </p:xfrm>
        <a:graphic>
          <a:graphicData uri="http://schemas.openxmlformats.org/drawingml/2006/table">
            <a:tbl>
              <a:tblPr/>
              <a:tblGrid>
                <a:gridCol w="2737278"/>
                <a:gridCol w="3780239"/>
              </a:tblGrid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A26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Метрика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A26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Результат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Пиковая память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−17.9%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Eval loss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идентично (−0.004%)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Скорость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x1.00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Кривая обучения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совпадает (0.26%)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Доля наших ядер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0"/>
                        </a:rPr>
                        <a:t>9.8% времени</a:t>
                      </a:r>
                      <a:endParaRPr lang="en-US" sz="15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B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871623" y="6540500"/>
            <a:ext cx="3200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81215"/>
            <a:ext cx="11277318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0"/>
              </a:rPr>
              <a:t>СЛЕДУЮЩИЙ ШАГ — УБРАТЬ ЛОГИТЫ И УСКОРИТЬ NF4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3167658"/>
            <a:ext cx="8256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1A47A8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189" y="3434358"/>
            <a:ext cx="2705032" cy="19050"/>
          </a:xfrm>
          <a:prstGeom prst="rect">
            <a:avLst/>
          </a:prstGeom>
          <a:solidFill>
            <a:srgbClr val="1A47A8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3567708"/>
            <a:ext cx="27050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Скорость упирается в 4-bit matmul и NF4-деквантизацию — их мы не трогали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14617" y="3167658"/>
            <a:ext cx="8256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1A47A8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02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14617" y="3434358"/>
            <a:ext cx="2705032" cy="19050"/>
          </a:xfrm>
          <a:prstGeom prst="rect">
            <a:avLst/>
          </a:prstGeom>
          <a:solidFill>
            <a:srgbClr val="1A47A8"/>
          </a:solidFill>
          <a:ln/>
        </p:spPr>
      </p:sp>
      <p:sp>
        <p:nvSpPr>
          <p:cNvPr id="8" name="Text 6"/>
          <p:cNvSpPr/>
          <p:nvPr/>
        </p:nvSpPr>
        <p:spPr>
          <a:xfrm>
            <a:off x="3314617" y="3567708"/>
            <a:ext cx="27050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Backward cross-entropy всё ещё выделяет память под градиент N×V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046" y="3167658"/>
            <a:ext cx="8256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1A47A8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03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046" y="3434358"/>
            <a:ext cx="2705032" cy="19050"/>
          </a:xfrm>
          <a:prstGeom prst="rect">
            <a:avLst/>
          </a:prstGeom>
          <a:solidFill>
            <a:srgbClr val="1A47A8"/>
          </a:solidFill>
          <a:ln/>
        </p:spPr>
      </p:sp>
      <p:sp>
        <p:nvSpPr>
          <p:cNvPr id="11" name="Text 9"/>
          <p:cNvSpPr/>
          <p:nvPr/>
        </p:nvSpPr>
        <p:spPr>
          <a:xfrm>
            <a:off x="6172046" y="3567708"/>
            <a:ext cx="27050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Дальше: fused lm_head + CE, чтобы убрать логиты целиком, и NF4-деквантизация на Triton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29474" y="2939058"/>
            <a:ext cx="2705032" cy="2190750"/>
          </a:xfrm>
          <a:prstGeom prst="rect">
            <a:avLst/>
          </a:prstGeom>
          <a:solidFill>
            <a:srgbClr val="E1E8F1"/>
          </a:solidFill>
          <a:ln/>
        </p:spPr>
      </p:sp>
      <p:sp>
        <p:nvSpPr>
          <p:cNvPr id="13" name="Text 11"/>
          <p:cNvSpPr/>
          <p:nvPr/>
        </p:nvSpPr>
        <p:spPr>
          <a:xfrm>
            <a:off x="9258068" y="3167658"/>
            <a:ext cx="8256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22303D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04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58068" y="3434358"/>
            <a:ext cx="2247844" cy="19050"/>
          </a:xfrm>
          <a:prstGeom prst="rect">
            <a:avLst/>
          </a:prstGeom>
          <a:solidFill>
            <a:srgbClr val="1A47A8"/>
          </a:solidFill>
          <a:ln/>
        </p:spPr>
      </p:sp>
      <p:sp>
        <p:nvSpPr>
          <p:cNvPr id="15" name="Text 13"/>
          <p:cNvSpPr/>
          <p:nvPr/>
        </p:nvSpPr>
        <p:spPr>
          <a:xfrm>
            <a:off x="9258068" y="3567708"/>
            <a:ext cx="224784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303D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Итог: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 память −18%, качество без потерь, репо и ноутбук открыты и воспроизводимы. Спасибо!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2026-10-30T21:02:29Z</dcterms:created>
  <dcterms:modified xsi:type="dcterms:W3CDTF">2026-10-30T21:02:29Z</dcterms:modified>
</cp:coreProperties>
</file>